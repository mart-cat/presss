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0" r:id="rId7"/>
    <p:sldId id="276" r:id="rId8"/>
    <p:sldId id="277" r:id="rId9"/>
    <p:sldId id="278" r:id="rId10"/>
    <p:sldId id="280" r:id="rId11"/>
    <p:sldId id="281" r:id="rId12"/>
    <p:sldId id="279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1" y="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2EFAB3-EA48-F3E1-E5A3-386A37763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8AEDDD9-8AE2-2764-8095-AC9A88B6C6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A026E6-6FD5-95FB-A9DB-F4F9DDD7C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FB4D-30BB-457C-896F-FFF62C7029F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3E9730-3EE1-0046-2FFD-16A8C7531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A49DE4-7D43-7CAA-70D1-DAE9D94F3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E5283-3A66-4ECF-AFCE-82A00B8AF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814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612297-786A-AD03-557D-D15573D17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4667B8-B72D-5E44-1AAA-55C842A9C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79F01C-3EE7-4A84-3636-07396C17B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FB4D-30BB-457C-896F-FFF62C7029F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5366DE-A46E-E2B5-4DEF-B4F443770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3C7668-1608-2EAF-247F-E656A033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E5283-3A66-4ECF-AFCE-82A00B8AF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575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F777B0-91F5-95CE-C195-30BEEE0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49EDCE-FC87-C151-6DBF-B00718E73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6E8F8B-C131-1CFA-3CE5-A35021558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FB4D-30BB-457C-896F-FFF62C7029F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FB9F7C-7D60-06C6-4670-D1EF644DC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731683-3555-6CB3-FD9E-9D2DF05F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E5283-3A66-4ECF-AFCE-82A00B8AF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6414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2194B5-60F9-4985-CF4A-7C160BEC7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85FDF5-F65C-0EB9-05E4-F48F55F3B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DB34449-439B-77A7-D839-5680F67B3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D1B08B-772A-D009-5437-984F9B2C1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FB4D-30BB-457C-896F-FFF62C7029F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5810235-4723-E25A-B2F0-97349184B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35A353-7944-8AF5-95F1-AB0F157D3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E5283-3A66-4ECF-AFCE-82A00B8AF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8962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ABDA31-DCE9-B933-2E53-FA8E15A3D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5E8FFD-C486-E89C-8389-F57D2754B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47BCD2C-D3EE-0B87-A481-8D35A4036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EC353AC-2262-88D7-D18C-AFD87900EF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961CEAE-6A58-75C3-BA05-2A422A9678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99943D0-E5C9-B659-C84A-B46F52FAC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FB4D-30BB-457C-896F-FFF62C7029F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C21A309-3B59-D80C-ACFB-7544D8CE1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91C8AFC-FD60-C6BC-5A30-05DD3F28E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E5283-3A66-4ECF-AFCE-82A00B8AF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17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988F1D-5EE9-BD5F-E07B-642CAB226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DDB1FB5-FAF3-B622-1E7E-FA56E5DFD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FB4D-30BB-457C-896F-FFF62C7029F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CDD4AA8-9E2B-A2E1-FFAC-2CBE65310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13AB2C2-80A7-1B71-3332-3CAC4948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E5283-3A66-4ECF-AFCE-82A00B8AF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4117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071A56A-ACB6-369E-13F4-D9547B5DB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FB4D-30BB-457C-896F-FFF62C7029F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7512D90-98DE-B154-20E9-28B450FE4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0DD0B46-B8ED-2092-31B6-174CEA472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E5283-3A66-4ECF-AFCE-82A00B8AF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3034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FE17BD-1804-61C9-A86B-C8FB9B32F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FB9B1F-E641-CBAF-88B1-8AEB57FC5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2521ADC-F2C9-611F-9FDD-7E48FF64F5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368BAD-9979-1215-B314-FC9EC0763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FB4D-30BB-457C-896F-FFF62C7029F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AD7AECB-69C5-FF97-219A-567335706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BAF5FC-88CA-005F-80D7-C20A0F8BE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E5283-3A66-4ECF-AFCE-82A00B8AF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23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B06C6F-F8E0-BDFC-77A3-B2F8ACBC7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609DA03-5F5F-7FA9-4B82-81ACD3B34A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8B674E-B6C3-4D4E-639B-BA390A71C7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3611305-2FEB-5EA5-C627-9BE652A1B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FB4D-30BB-457C-896F-FFF62C7029F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7516424-0380-8679-C830-C9DAAC9A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D303FD-3687-C086-8599-06593BFDD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E5283-3A66-4ECF-AFCE-82A00B8AF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0351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C5EF2F-4A3A-CC22-9785-6FD739D1E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9552AFA-CA54-2FFE-483B-B88E3B8A5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98C1B0-6FEB-314F-A2E5-F0D27C881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FB4D-30BB-457C-896F-FFF62C7029F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6AA0B1-16B1-FF4C-D563-2894961E2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205096-0C17-C1B4-22F6-8E6CEFFEE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E5283-3A66-4ECF-AFCE-82A00B8AF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0262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352709F-09AB-5A25-EF3A-55E2FE4D4D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DED5A9F-6A87-E364-0860-D9BDAFEE58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0AD457-1927-A08D-7588-61DF25C7D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FB4D-30BB-457C-896F-FFF62C7029F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C0B75C-FEE7-3E74-B753-CD44B24B8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3E53EA-F893-8813-5B3B-91FF2E8C1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E5283-3A66-4ECF-AFCE-82A00B8AF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376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C9FA58-B2DD-2534-F093-50891125B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2C02CB-1A14-59A2-EE95-72D733A2F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7BBE51-23BA-0C6F-48BC-205A574AEA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2FB4D-30BB-457C-896F-FFF62C7029F1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EF495F-B4B4-ED8C-3E25-25810FF1CA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AD6B89-4B52-A09E-D8B0-082706D49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E5283-3A66-4ECF-AFCE-82A00B8AF6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815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A1%D1%82%D1%80%D0%B0%D1%85%D0%BE%D0%B2%D0%B0%D0%BD%D0%B8%D0%B5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9F9D72-F5D1-7061-0FA0-5CD263E98B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Страхование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2FEDD3-8024-AFC9-9F80-67E5D8A6C8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5862" y="6088064"/>
            <a:ext cx="3267075" cy="284162"/>
          </a:xfrm>
        </p:spPr>
        <p:txBody>
          <a:bodyPr>
            <a:normAutofit/>
          </a:bodyPr>
          <a:lstStyle/>
          <a:p>
            <a:pPr algn="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Выполнила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Мартынова А.О. ИВТ-1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382CCC-6D2A-3C38-2BCF-32DBECBEF339}"/>
              </a:ext>
            </a:extLst>
          </p:cNvPr>
          <p:cNvSpPr txBox="1"/>
          <p:nvPr/>
        </p:nvSpPr>
        <p:spPr>
          <a:xfrm>
            <a:off x="547689" y="61483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2026 г.</a:t>
            </a:r>
          </a:p>
        </p:txBody>
      </p:sp>
    </p:spTree>
    <p:extLst>
      <p:ext uri="{BB962C8B-B14F-4D97-AF65-F5344CB8AC3E}">
        <p14:creationId xmlns:p14="http://schemas.microsoft.com/office/powerpoint/2010/main" val="1084949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7FD4B662-4030-F748-CCC7-38DFD0656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592" y="619827"/>
            <a:ext cx="5618346" cy="5618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2CF037-40A2-9D15-DABB-80A4F0EE4768}"/>
              </a:ext>
            </a:extLst>
          </p:cNvPr>
          <p:cNvSpPr txBox="1"/>
          <p:nvPr/>
        </p:nvSpPr>
        <p:spPr>
          <a:xfrm>
            <a:off x="5581650" y="6198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22272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Глава 48. Страхование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813358-971C-D9A2-772B-7EFA089D8C0E}"/>
              </a:ext>
            </a:extLst>
          </p:cNvPr>
          <p:cNvSpPr txBox="1"/>
          <p:nvPr/>
        </p:nvSpPr>
        <p:spPr>
          <a:xfrm>
            <a:off x="5581650" y="1108413"/>
            <a:ext cx="57626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Страхование — термин, который означает отношения между страхователем и страховщиком по защите имущественных интересов физических и юридических лиц при наступлении определённых событий (страховых случаев) за счёт денежных фондов, формируемых из уплачиваемых ими страховых взносо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в.</a:t>
            </a:r>
            <a:br>
              <a:rPr lang="ru-RU" b="0" u="none" strike="noStrike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</a:b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025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5D3C72-73A1-1F93-CA49-96849B274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13" y="160338"/>
            <a:ext cx="10515600" cy="1325563"/>
          </a:xfrm>
        </p:spPr>
        <p:txBody>
          <a:bodyPr/>
          <a:lstStyle/>
          <a:p>
            <a:r>
              <a:rPr lang="ru-RU" b="1" dirty="0"/>
              <a:t>Страхование: базовые понятия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3A63DF-C7CE-A749-39B8-AA586B7632D6}"/>
              </a:ext>
            </a:extLst>
          </p:cNvPr>
          <p:cNvSpPr txBox="1"/>
          <p:nvPr/>
        </p:nvSpPr>
        <p:spPr>
          <a:xfrm>
            <a:off x="3048000" y="3236960"/>
            <a:ext cx="6096000" cy="38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Страхование: базовые понятия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3F7F1114-22AF-B334-264C-D3665E969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203928"/>
              </p:ext>
            </p:extLst>
          </p:nvPr>
        </p:nvGraphicFramePr>
        <p:xfrm>
          <a:off x="728661" y="1485901"/>
          <a:ext cx="10768014" cy="496892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86064">
                  <a:extLst>
                    <a:ext uri="{9D8B030D-6E8A-4147-A177-3AD203B41FA5}">
                      <a16:colId xmlns:a16="http://schemas.microsoft.com/office/drawing/2014/main" val="2664259961"/>
                    </a:ext>
                  </a:extLst>
                </a:gridCol>
                <a:gridCol w="7981950">
                  <a:extLst>
                    <a:ext uri="{9D8B030D-6E8A-4147-A177-3AD203B41FA5}">
                      <a16:colId xmlns:a16="http://schemas.microsoft.com/office/drawing/2014/main" val="198736720"/>
                    </a:ext>
                  </a:extLst>
                </a:gridCol>
              </a:tblGrid>
              <a:tr h="30806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effectLst/>
                        </a:rPr>
                        <a:t>Термин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42110" marR="35091" marT="21932" marB="219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</a:rPr>
                        <a:t>Кто это</a:t>
                      </a:r>
                      <a:endParaRPr lang="ru-RU" sz="2000" b="0">
                        <a:effectLst/>
                        <a:latin typeface="quote-cjk-patch"/>
                      </a:endParaRPr>
                    </a:p>
                  </a:txBody>
                  <a:tcPr marL="35091" marR="35091" marT="21932" marB="21932" anchor="ctr"/>
                </a:tc>
                <a:extLst>
                  <a:ext uri="{0D108BD9-81ED-4DB2-BD59-A6C34878D82A}">
                    <a16:rowId xmlns:a16="http://schemas.microsoft.com/office/drawing/2014/main" val="893657642"/>
                  </a:ext>
                </a:extLst>
              </a:tr>
              <a:tr h="63268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1" dirty="0">
                          <a:effectLst/>
                        </a:rPr>
                        <a:t>Страхователь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42110" marR="35091" marT="21932" marB="219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</a:rPr>
                        <a:t>Тот, кто покупает страховку и платит взносы</a:t>
                      </a:r>
                      <a:endParaRPr lang="ru-RU" sz="2000" b="0">
                        <a:effectLst/>
                        <a:latin typeface="quote-cjk-patch"/>
                      </a:endParaRPr>
                    </a:p>
                  </a:txBody>
                  <a:tcPr marL="35091" marR="35091" marT="21932" marB="21932" anchor="ctr"/>
                </a:tc>
                <a:extLst>
                  <a:ext uri="{0D108BD9-81ED-4DB2-BD59-A6C34878D82A}">
                    <a16:rowId xmlns:a16="http://schemas.microsoft.com/office/drawing/2014/main" val="3591866005"/>
                  </a:ext>
                </a:extLst>
              </a:tr>
              <a:tr h="63268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1">
                          <a:effectLst/>
                        </a:rPr>
                        <a:t>Страховщик</a:t>
                      </a:r>
                      <a:endParaRPr lang="ru-RU" sz="2000" b="0">
                        <a:effectLst/>
                        <a:latin typeface="quote-cjk-patch"/>
                      </a:endParaRPr>
                    </a:p>
                  </a:txBody>
                  <a:tcPr marL="42110" marR="35091" marT="21932" marB="219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</a:rPr>
                        <a:t>Страховая компания</a:t>
                      </a:r>
                      <a:endParaRPr lang="ru-RU" sz="2000" b="0">
                        <a:effectLst/>
                        <a:latin typeface="quote-cjk-patch"/>
                      </a:endParaRPr>
                    </a:p>
                  </a:txBody>
                  <a:tcPr marL="35091" marR="35091" marT="21932" marB="21932" anchor="ctr"/>
                </a:tc>
                <a:extLst>
                  <a:ext uri="{0D108BD9-81ED-4DB2-BD59-A6C34878D82A}">
                    <a16:rowId xmlns:a16="http://schemas.microsoft.com/office/drawing/2014/main" val="2217684431"/>
                  </a:ext>
                </a:extLst>
              </a:tr>
              <a:tr h="74996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1">
                          <a:effectLst/>
                        </a:rPr>
                        <a:t>Выгодоприобретатель</a:t>
                      </a:r>
                      <a:endParaRPr lang="ru-RU" sz="2000" b="0">
                        <a:effectLst/>
                        <a:latin typeface="quote-cjk-patch"/>
                      </a:endParaRPr>
                    </a:p>
                  </a:txBody>
                  <a:tcPr marL="42110" marR="35091" marT="21932" marB="219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</a:rPr>
                        <a:t>Тот, кто получит деньги при страховом случае</a:t>
                      </a:r>
                      <a:endParaRPr lang="ru-RU" sz="2000" b="0">
                        <a:effectLst/>
                        <a:latin typeface="quote-cjk-patch"/>
                      </a:endParaRPr>
                    </a:p>
                  </a:txBody>
                  <a:tcPr marL="35091" marR="35091" marT="21932" marB="21932" anchor="ctr"/>
                </a:tc>
                <a:extLst>
                  <a:ext uri="{0D108BD9-81ED-4DB2-BD59-A6C34878D82A}">
                    <a16:rowId xmlns:a16="http://schemas.microsoft.com/office/drawing/2014/main" val="1504714874"/>
                  </a:ext>
                </a:extLst>
              </a:tr>
              <a:tr h="8174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1">
                          <a:effectLst/>
                        </a:rPr>
                        <a:t>Застрахованное лицо</a:t>
                      </a:r>
                      <a:endParaRPr lang="ru-RU" sz="2000" b="0">
                        <a:effectLst/>
                        <a:latin typeface="quote-cjk-patch"/>
                      </a:endParaRPr>
                    </a:p>
                  </a:txBody>
                  <a:tcPr marL="42110" marR="35091" marT="21932" marB="219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effectLst/>
                        </a:rPr>
                        <a:t>Чья жизнь/здоровье/имущество защищены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35091" marR="35091" marT="21932" marB="21932" anchor="ctr"/>
                </a:tc>
                <a:extLst>
                  <a:ext uri="{0D108BD9-81ED-4DB2-BD59-A6C34878D82A}">
                    <a16:rowId xmlns:a16="http://schemas.microsoft.com/office/drawing/2014/main" val="2130051967"/>
                  </a:ext>
                </a:extLst>
              </a:tr>
              <a:tr h="74996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1">
                          <a:effectLst/>
                        </a:rPr>
                        <a:t>Страховой случай</a:t>
                      </a:r>
                      <a:endParaRPr lang="ru-RU" sz="2000" b="0">
                        <a:effectLst/>
                        <a:latin typeface="quote-cjk-patch"/>
                      </a:endParaRPr>
                    </a:p>
                  </a:txBody>
                  <a:tcPr marL="42110" marR="35091" marT="21932" marB="219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</a:rPr>
                        <a:t>Событие, при котором компания обязана заплатить</a:t>
                      </a:r>
                      <a:endParaRPr lang="ru-RU" sz="2000" b="0">
                        <a:effectLst/>
                        <a:latin typeface="quote-cjk-patch"/>
                      </a:endParaRPr>
                    </a:p>
                  </a:txBody>
                  <a:tcPr marL="35091" marR="35091" marT="21932" marB="21932" anchor="ctr"/>
                </a:tc>
                <a:extLst>
                  <a:ext uri="{0D108BD9-81ED-4DB2-BD59-A6C34878D82A}">
                    <a16:rowId xmlns:a16="http://schemas.microsoft.com/office/drawing/2014/main" val="3010391159"/>
                  </a:ext>
                </a:extLst>
              </a:tr>
              <a:tr h="56273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1">
                          <a:effectLst/>
                        </a:rPr>
                        <a:t>Страховая сумма</a:t>
                      </a:r>
                      <a:endParaRPr lang="ru-RU" sz="2000" b="0">
                        <a:effectLst/>
                        <a:latin typeface="quote-cjk-patch"/>
                      </a:endParaRPr>
                    </a:p>
                  </a:txBody>
                  <a:tcPr marL="42110" marR="35091" marT="21932" marB="219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>
                          <a:effectLst/>
                        </a:rPr>
                        <a:t>Максимум, сколько выплатят</a:t>
                      </a:r>
                      <a:endParaRPr lang="ru-RU" sz="2000" b="0">
                        <a:effectLst/>
                        <a:latin typeface="quote-cjk-patch"/>
                      </a:endParaRPr>
                    </a:p>
                  </a:txBody>
                  <a:tcPr marL="35091" marR="35091" marT="21932" marB="21932" anchor="ctr"/>
                </a:tc>
                <a:extLst>
                  <a:ext uri="{0D108BD9-81ED-4DB2-BD59-A6C34878D82A}">
                    <a16:rowId xmlns:a16="http://schemas.microsoft.com/office/drawing/2014/main" val="1480082732"/>
                  </a:ext>
                </a:extLst>
              </a:tr>
              <a:tr h="51541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1">
                          <a:effectLst/>
                        </a:rPr>
                        <a:t>Страховая премия</a:t>
                      </a:r>
                      <a:endParaRPr lang="ru-RU" sz="2000" b="0">
                        <a:effectLst/>
                        <a:latin typeface="quote-cjk-patch"/>
                      </a:endParaRPr>
                    </a:p>
                  </a:txBody>
                  <a:tcPr marL="42110" marR="35091" marT="21932" marB="2193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2000" b="0" dirty="0">
                          <a:effectLst/>
                        </a:rPr>
                        <a:t>Сколько вы платите за полис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35091" marR="35091" marT="21932" marB="21932" anchor="ctr"/>
                </a:tc>
                <a:extLst>
                  <a:ext uri="{0D108BD9-81ED-4DB2-BD59-A6C34878D82A}">
                    <a16:rowId xmlns:a16="http://schemas.microsoft.com/office/drawing/2014/main" val="1763127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4183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50A9F5-F793-DE6F-6FD5-FAA6AEFD2060}"/>
              </a:ext>
            </a:extLst>
          </p:cNvPr>
          <p:cNvSpPr txBox="1"/>
          <p:nvPr/>
        </p:nvSpPr>
        <p:spPr>
          <a:xfrm>
            <a:off x="319088" y="769835"/>
            <a:ext cx="6096000" cy="38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Все страховки делятся на два типа.</a:t>
            </a:r>
            <a:endParaRPr lang="ru-RU" b="1" dirty="0">
              <a:solidFill>
                <a:srgbClr val="F9FAFB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A9A669-EEF1-0DB9-2B81-DC2CF2E5D279}"/>
              </a:ext>
            </a:extLst>
          </p:cNvPr>
          <p:cNvSpPr txBox="1"/>
          <p:nvPr/>
        </p:nvSpPr>
        <p:spPr>
          <a:xfrm>
            <a:off x="319088" y="400503"/>
            <a:ext cx="7710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22272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Статья 927. Добровольное и обязательное страхование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C22653-E59B-402B-23C4-366853236384}"/>
              </a:ext>
            </a:extLst>
          </p:cNvPr>
          <p:cNvSpPr txBox="1"/>
          <p:nvPr/>
        </p:nvSpPr>
        <p:spPr>
          <a:xfrm>
            <a:off x="909643" y="2063199"/>
            <a:ext cx="6096000" cy="369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ru-RU" sz="28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Добровольное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BF2449-E92B-FDC7-95C5-1F4EDA8B0F67}"/>
              </a:ext>
            </a:extLst>
          </p:cNvPr>
          <p:cNvSpPr txBox="1"/>
          <p:nvPr/>
        </p:nvSpPr>
        <p:spPr>
          <a:xfrm>
            <a:off x="842968" y="2681835"/>
            <a:ext cx="6096000" cy="844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ru-RU" sz="28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Страховка телефона, </a:t>
            </a:r>
          </a:p>
          <a:p>
            <a:pPr>
              <a:lnSpc>
                <a:spcPts val="1875"/>
              </a:lnSpc>
              <a:buNone/>
            </a:pP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875"/>
              </a:lnSpc>
              <a:buNone/>
            </a:pPr>
            <a:r>
              <a:rPr lang="ru-RU" sz="28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ДМС, туристическая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ADE65A-F006-4EC4-D9DD-ECD01A021F55}"/>
              </a:ext>
            </a:extLst>
          </p:cNvPr>
          <p:cNvSpPr txBox="1"/>
          <p:nvPr/>
        </p:nvSpPr>
        <p:spPr>
          <a:xfrm>
            <a:off x="5476880" y="2063198"/>
            <a:ext cx="6096000" cy="369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75"/>
              </a:lnSpc>
              <a:buNone/>
            </a:pPr>
            <a:r>
              <a:rPr lang="ru-RU" sz="28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Обязательное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F34B0E-E962-E8F2-1743-D67AFF9EB833}"/>
              </a:ext>
            </a:extLst>
          </p:cNvPr>
          <p:cNvSpPr txBox="1"/>
          <p:nvPr/>
        </p:nvSpPr>
        <p:spPr>
          <a:xfrm>
            <a:off x="5476880" y="2734061"/>
            <a:ext cx="6096000" cy="369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  <a:buNone/>
            </a:pPr>
            <a:r>
              <a:rPr lang="ru-RU" sz="28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ОСАГО, страхование таксистов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A3D2D6-5561-0242-E073-F373D5BAB7B5}"/>
              </a:ext>
            </a:extLst>
          </p:cNvPr>
          <p:cNvSpPr txBox="1"/>
          <p:nvPr/>
        </p:nvSpPr>
        <p:spPr>
          <a:xfrm>
            <a:off x="842968" y="5068132"/>
            <a:ext cx="10286995" cy="925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Купили машину? Обязаны оформить </a:t>
            </a:r>
            <a:r>
              <a:rPr lang="ru-RU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ОСАГО</a:t>
            </a: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(ст. 935). Без него за руль нельзя.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Идете в поход? Покупаете страховку </a:t>
            </a:r>
            <a:r>
              <a:rPr lang="ru-RU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добровольно</a:t>
            </a: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3686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A35B6-5D9E-BBF9-DC5B-995854CED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04C0820-E5CF-22C2-DFAF-2D8070AAD508}"/>
              </a:ext>
            </a:extLst>
          </p:cNvPr>
          <p:cNvSpPr txBox="1"/>
          <p:nvPr/>
        </p:nvSpPr>
        <p:spPr>
          <a:xfrm>
            <a:off x="319088" y="400503"/>
            <a:ext cx="7710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Статья 928. Интересы, страхование которых не допускается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31F4D6-C4C9-1710-92FF-13DB1C06F7D0}"/>
              </a:ext>
            </a:extLst>
          </p:cNvPr>
          <p:cNvSpPr txBox="1"/>
          <p:nvPr/>
        </p:nvSpPr>
        <p:spPr>
          <a:xfrm>
            <a:off x="962025" y="5877757"/>
            <a:ext cx="86629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Если вам предложат такой полис — пункт договора будет </a:t>
            </a:r>
            <a:r>
              <a:rPr lang="ru-RU" b="1" dirty="0"/>
              <a:t>ничтожен</a:t>
            </a:r>
            <a:r>
              <a:rPr lang="ru-RU" dirty="0"/>
              <a:t> (недействителен), даже если вы его подписали (п. 4).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51AF93-5169-497B-B6DA-2A3BEAAB944B}"/>
              </a:ext>
            </a:extLst>
          </p:cNvPr>
          <p:cNvSpPr txBox="1"/>
          <p:nvPr/>
        </p:nvSpPr>
        <p:spPr>
          <a:xfrm>
            <a:off x="909637" y="1746552"/>
            <a:ext cx="10820400" cy="2682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 что НЕЛЬЗЯ купить страховку:</a:t>
            </a:r>
            <a:endParaRPr lang="ru-RU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Противоправные интересы</a:t>
            </a:r>
            <a:r>
              <a:rPr lang="ru-RU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— если планируете нарушать закон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Проигрыши в казино, лотереях, пари</a:t>
            </a:r>
            <a:r>
              <a:rPr lang="ru-RU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— проиграли 50 000 ₽? Страховка не поможет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Расходы на освобождение заложников</a:t>
            </a:r>
            <a:endParaRPr lang="ru-RU" sz="24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762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2FC999-4CAC-46F3-5B59-3587C02429F1}"/>
              </a:ext>
            </a:extLst>
          </p:cNvPr>
          <p:cNvSpPr txBox="1"/>
          <p:nvPr/>
        </p:nvSpPr>
        <p:spPr>
          <a:xfrm>
            <a:off x="528637" y="533609"/>
            <a:ext cx="6096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Статьи 929–930. Страхование имущества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Что защищаем:</a:t>
            </a: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квартиры, машины, телефоны, ноутбуки.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Главное правило (ст. 930):</a:t>
            </a:r>
            <a:b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Вы можете застраховать только то имущество, в сохранении которого у вас есть </a:t>
            </a:r>
            <a:r>
              <a:rPr lang="ru-RU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интерес</a:t>
            </a: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E0E9D1-2B06-2BAF-F62D-155ABB2B2352}"/>
              </a:ext>
            </a:extLst>
          </p:cNvPr>
          <p:cNvSpPr txBox="1"/>
          <p:nvPr/>
        </p:nvSpPr>
        <p:spPr>
          <a:xfrm>
            <a:off x="590550" y="3484865"/>
            <a:ext cx="11310939" cy="237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Ипотека:</a:t>
            </a:r>
            <a:b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Банк заставит застраховать квартиру. Банк станет </a:t>
            </a:r>
            <a:r>
              <a:rPr lang="ru-RU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выгодоприобретателем</a:t>
            </a: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Квартира сгорела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Страховая платит банку (закрывает ваш долг)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Остаток (если есть) — вам</a:t>
            </a:r>
          </a:p>
        </p:txBody>
      </p:sp>
    </p:spTree>
    <p:extLst>
      <p:ext uri="{BB962C8B-B14F-4D97-AF65-F5344CB8AC3E}">
        <p14:creationId xmlns:p14="http://schemas.microsoft.com/office/powerpoint/2010/main" val="2162543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697919-E88D-0D49-4052-9008E5BC7C19}"/>
              </a:ext>
            </a:extLst>
          </p:cNvPr>
          <p:cNvSpPr txBox="1"/>
          <p:nvPr/>
        </p:nvSpPr>
        <p:spPr>
          <a:xfrm>
            <a:off x="381000" y="326708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Статьи 931–932. Страхование ответственности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Когда вы кому-то навредили</a:t>
            </a:r>
            <a:endParaRPr lang="ru-RU" sz="20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4D8340-9A36-E3AF-D6C7-5A926BECCECF}"/>
              </a:ext>
            </a:extLst>
          </p:cNvPr>
          <p:cNvSpPr txBox="1"/>
          <p:nvPr/>
        </p:nvSpPr>
        <p:spPr>
          <a:xfrm>
            <a:off x="466724" y="2355945"/>
            <a:ext cx="11591926" cy="387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ОСАГО — то, что нужно каждому водителю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681E34-56A1-5D94-9C1A-19F25BEE27D8}"/>
              </a:ext>
            </a:extLst>
          </p:cNvPr>
          <p:cNvSpPr txBox="1"/>
          <p:nvPr/>
        </p:nvSpPr>
        <p:spPr>
          <a:xfrm>
            <a:off x="466724" y="4114770"/>
            <a:ext cx="1159192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Как работает:</a:t>
            </a:r>
            <a:b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Вы въехали в Toyota Camry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тогда </a:t>
            </a: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страховка платит за ремонт Toyota, а не вашей машины.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Важно (п. 3):</a:t>
            </a:r>
            <a:b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Пострадавший пешеход может требовать деньги напрямую с вашей страховой, минуя вас.</a:t>
            </a:r>
          </a:p>
        </p:txBody>
      </p:sp>
    </p:spTree>
    <p:extLst>
      <p:ext uri="{BB962C8B-B14F-4D97-AF65-F5344CB8AC3E}">
        <p14:creationId xmlns:p14="http://schemas.microsoft.com/office/powerpoint/2010/main" val="3695762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6201DD-6FBE-48EF-4616-A2DD8C46E36C}"/>
              </a:ext>
            </a:extLst>
          </p:cNvPr>
          <p:cNvSpPr txBox="1"/>
          <p:nvPr/>
        </p:nvSpPr>
        <p:spPr>
          <a:xfrm>
            <a:off x="304799" y="336598"/>
            <a:ext cx="72437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Статьи 934–935. Личное страхование и обязаловка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FA3051-2031-7915-3CC8-76FC4097B128}"/>
              </a:ext>
            </a:extLst>
          </p:cNvPr>
          <p:cNvSpPr txBox="1"/>
          <p:nvPr/>
        </p:nvSpPr>
        <p:spPr>
          <a:xfrm>
            <a:off x="266700" y="1255882"/>
            <a:ext cx="5829300" cy="491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Статья 934. Страхование жизни и здоровья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Где пригодится: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Кредиты и ипотека — если с вами что-то случится, страховая закроет долг перед банком</a:t>
            </a: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Туристическая страховка — покрывает лечение за границей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Важнейшее правило (п. 2):</a:t>
            </a:r>
            <a:b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Если кто-то (работодатель, банк) хочет застраховать вашу жизнь — нужно ваше письменное согласие. Иначе договор можно признать недействительным.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99B8E5-2C53-67DC-7126-403A0075C099}"/>
              </a:ext>
            </a:extLst>
          </p:cNvPr>
          <p:cNvSpPr txBox="1"/>
          <p:nvPr/>
        </p:nvSpPr>
        <p:spPr>
          <a:xfrm>
            <a:off x="6191250" y="1255882"/>
            <a:ext cx="5410200" cy="4490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Статья 935. Кого могут заставить страховаться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Никто не может заставить вас страховать вашу жизнь или здоровье по закону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Работодатель требует ДМС под угрозой увольнения? Это незаконно (ДМС — добровольное).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Обязанность страховать возникает либо по закону (ОСАГО), либо по договору (пункт в договоре аренды квартиры).</a:t>
            </a:r>
          </a:p>
        </p:txBody>
      </p:sp>
    </p:spTree>
    <p:extLst>
      <p:ext uri="{BB962C8B-B14F-4D97-AF65-F5344CB8AC3E}">
        <p14:creationId xmlns:p14="http://schemas.microsoft.com/office/powerpoint/2010/main" val="642966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2E9538-D7FF-7FAB-8F01-EF5139E617D5}"/>
              </a:ext>
            </a:extLst>
          </p:cNvPr>
          <p:cNvSpPr txBox="1"/>
          <p:nvPr/>
        </p:nvSpPr>
        <p:spPr>
          <a:xfrm>
            <a:off x="404812" y="472871"/>
            <a:ext cx="11229976" cy="4965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Страховка — всегда письменный или электронный документ</a:t>
            </a:r>
          </a:p>
          <a:p>
            <a:pPr>
              <a:spcBef>
                <a:spcPts val="450"/>
              </a:spcBef>
              <a:spcAft>
                <a:spcPts val="1200"/>
              </a:spcAft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Устные договоренности не работают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Проверяйте полис. Там должно быть: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Что/Кто застрахован («квартира по адресу...»)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Страховой случай («пожар, залив» или только «смерть от несчастного случая»)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Страховая сумма (сколько максимум заплатят)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Срок действия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чего-то нет — договора юридическ</a:t>
            </a: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 нет.</a:t>
            </a:r>
          </a:p>
        </p:txBody>
      </p:sp>
    </p:spTree>
    <p:extLst>
      <p:ext uri="{BB962C8B-B14F-4D97-AF65-F5344CB8AC3E}">
        <p14:creationId xmlns:p14="http://schemas.microsoft.com/office/powerpoint/2010/main" val="2137829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57FBA6-9448-3D14-BB26-B19828338F57}"/>
              </a:ext>
            </a:extLst>
          </p:cNvPr>
          <p:cNvSpPr txBox="1"/>
          <p:nvPr/>
        </p:nvSpPr>
        <p:spPr>
          <a:xfrm>
            <a:off x="676275" y="32891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22272F"/>
                </a:solidFill>
                <a:effectLst/>
                <a:latin typeface="PT Serif" panose="020A0603040505020204" pitchFamily="18" charset="-52"/>
              </a:rPr>
              <a:t>Статья 944. Сведения, предоставляемые страхователем при заключении договора страхования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91FA4B-249B-58D8-8D16-3116025558D8}"/>
              </a:ext>
            </a:extLst>
          </p:cNvPr>
          <p:cNvSpPr txBox="1"/>
          <p:nvPr/>
        </p:nvSpPr>
        <p:spPr>
          <a:xfrm>
            <a:off x="676275" y="1877347"/>
            <a:ext cx="104155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Если спросили в анкете о болезнях — отвечайте честно!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Пример: Скрыли хроническую болезнь, уехали за границу, случилось обострение. Страховая проверит, найдет обман и откажет в выплате (п. 3).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Но: Если не спросили — молчите, сами рассказывать всё подряд не обязаны (п. 2).</a:t>
            </a:r>
          </a:p>
        </p:txBody>
      </p:sp>
    </p:spTree>
    <p:extLst>
      <p:ext uri="{BB962C8B-B14F-4D97-AF65-F5344CB8AC3E}">
        <p14:creationId xmlns:p14="http://schemas.microsoft.com/office/powerpoint/2010/main" val="2494877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E1DFBE9-2BE4-5A1D-7074-34DD2CF1A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605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Период охлаждения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Существует Указание ЦБ РФ по которому вы можете в течение 14 дней отказаться от навязанной доп. страховки и вернуть за нее деньги. Агенты часто "забывают" об этом сказать.</a:t>
            </a:r>
          </a:p>
          <a:p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64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DAF6B7-4683-F437-3727-7A0476B522AC}"/>
              </a:ext>
            </a:extLst>
          </p:cNvPr>
          <p:cNvSpPr txBox="1"/>
          <p:nvPr/>
        </p:nvSpPr>
        <p:spPr>
          <a:xfrm>
            <a:off x="1019175" y="1645903"/>
            <a:ext cx="10510837" cy="3772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Статья 944. Главное правило честности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спросили в анкете о болезнях — отвечайте честно!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Пример: Скрыли хроническую болезнь, уехали за границу, случилось обострение. Страховая проверит, найдет обман и откажет в выплате (п. 3).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Но: Если не спросили — молчите, сами рассказывать всё подряд не обязаны (п. 2).</a:t>
            </a:r>
          </a:p>
          <a:p>
            <a:pPr>
              <a:buNone/>
            </a:pP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374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625A8-890C-7754-DCB0-CB371B9B92E7}"/>
              </a:ext>
            </a:extLst>
          </p:cNvPr>
          <p:cNvSpPr txBox="1"/>
          <p:nvPr/>
        </p:nvSpPr>
        <p:spPr>
          <a:xfrm>
            <a:off x="175409" y="438178"/>
            <a:ext cx="1171660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«Укус собаки»</a:t>
            </a:r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Условия:</a:t>
            </a:r>
            <a:b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Студент Коля выгуливает свою таксу в парке. Такса мирная, но вдруг к ней подбегает огромный алабай без намордника и поводка. Коля пытается защитить свою собаку, алабай кусает Колю за руку (рваная рана, швы, больница).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 Коли есть: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- Полис ОМС (бесплатная медицина)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Полис добровольного страхования от несчастных случаев (оформлял в банке за 1 500 ₽ в год, думал это «бесполезная нагрузка к кредитке»)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договоре страхования от НС написано: «Страховой случай — телесные повреждения, полученные застрахованным лицом в результате </a:t>
            </a: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противоправных действий третьих лиц</a:t>
            </a: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».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Хозяин алабая сбежал, собака без ошейника, найти никого не могут.</a:t>
            </a:r>
          </a:p>
        </p:txBody>
      </p:sp>
    </p:spTree>
    <p:extLst>
      <p:ext uri="{BB962C8B-B14F-4D97-AF65-F5344CB8AC3E}">
        <p14:creationId xmlns:p14="http://schemas.microsoft.com/office/powerpoint/2010/main" val="2339404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3390785-F747-769D-A3EE-7B02B4AF8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889" y="847023"/>
            <a:ext cx="10515600" cy="47356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«Нападение собаки — это причинение вреда источником повышенной опасности (ст. 1079 ГК). Владелец собаки нарушил правила выгула (противоправные действия). Потерпевший (Коля) ни в чем не виноват».</a:t>
            </a:r>
          </a:p>
          <a:p>
            <a:pPr marL="0" indent="0">
              <a:buNone/>
            </a:pPr>
            <a:r>
              <a:rPr lang="ru-RU" sz="2000" dirty="0"/>
              <a:t>Сработал пункт «противоправные действия третьих лиц». Хотя хозяина не нашли, сам факт нападения безнадзорной собаки квалифицируется как такой случай.</a:t>
            </a:r>
            <a:endParaRPr lang="ru-RU" sz="2000" b="1" dirty="0"/>
          </a:p>
          <a:p>
            <a:pPr marL="0" indent="0">
              <a:buNone/>
            </a:pPr>
            <a:endParaRPr lang="ru-RU" sz="2000" b="1" dirty="0"/>
          </a:p>
          <a:p>
            <a:pPr marL="0" indent="0">
              <a:buNone/>
            </a:pPr>
            <a:endParaRPr lang="ru-RU" sz="2000" b="1" dirty="0"/>
          </a:p>
          <a:p>
            <a:pPr marL="0" indent="0">
              <a:buNone/>
            </a:pPr>
            <a:endParaRPr lang="ru-RU" sz="2000" b="1" dirty="0"/>
          </a:p>
          <a:p>
            <a:pPr marL="0" indent="0">
              <a:buNone/>
            </a:pPr>
            <a:r>
              <a:rPr lang="ru-RU" sz="2000" b="1" dirty="0"/>
              <a:t>Сколько заплатят:</a:t>
            </a:r>
            <a:br>
              <a:rPr lang="ru-RU" sz="2000" dirty="0"/>
            </a:br>
            <a:r>
              <a:rPr lang="ru-RU" sz="2000" dirty="0"/>
              <a:t>В договоре обычно есть таблица выплат. Например:</a:t>
            </a:r>
          </a:p>
          <a:p>
            <a:pPr marL="0" indent="0">
              <a:buNone/>
            </a:pPr>
            <a:r>
              <a:rPr lang="ru-RU" sz="2000" dirty="0"/>
              <a:t>Рваная рана = 10% от страховой суммы</a:t>
            </a:r>
          </a:p>
          <a:p>
            <a:pPr marL="0" indent="0">
              <a:buNone/>
            </a:pPr>
            <a:r>
              <a:rPr lang="ru-RU" sz="2000" dirty="0"/>
              <a:t>Страховая сумма Коли = 100 000 ₽</a:t>
            </a:r>
            <a:br>
              <a:rPr lang="ru-RU" sz="2000" dirty="0"/>
            </a:br>
            <a:r>
              <a:rPr lang="ru-RU" sz="2000" dirty="0"/>
              <a:t>Выплата = </a:t>
            </a:r>
            <a:r>
              <a:rPr lang="ru-RU" sz="2000" b="1" dirty="0"/>
              <a:t>10 000 ₽</a:t>
            </a:r>
            <a:r>
              <a:rPr lang="ru-RU" sz="2000" dirty="0"/>
              <a:t> (плюс могут покрыть расходы на больницу, если есть чеки)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181619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0D9823-1DE7-83D6-8280-148B84971F40}"/>
              </a:ext>
            </a:extLst>
          </p:cNvPr>
          <p:cNvSpPr txBox="1"/>
          <p:nvPr/>
        </p:nvSpPr>
        <p:spPr>
          <a:xfrm>
            <a:off x="1014412" y="957973"/>
            <a:ext cx="10163175" cy="4183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«Квартира сгорела» 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Условия:</a:t>
            </a:r>
            <a:b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многоквартирном доме пожар. Сгорела квартира на 3-м этаже полностью. Сосед сверху (4-й этаж) не пострадал, но его квартиру залили водой при тушении (поврежден ремонт, мебель).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 соседа сверху есть страховка квартиры (он собственник). В договоре написано:</a:t>
            </a:r>
            <a:b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«Выгодоприобретателем по договору является страхователь (собственник)».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 собственника сгоревшей квартиры страховки нет.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Сосед сверху идет в свою страховую за выплатой за испорченный ремонт.</a:t>
            </a:r>
          </a:p>
        </p:txBody>
      </p:sp>
    </p:spTree>
    <p:extLst>
      <p:ext uri="{BB962C8B-B14F-4D97-AF65-F5344CB8AC3E}">
        <p14:creationId xmlns:p14="http://schemas.microsoft.com/office/powerpoint/2010/main" val="4278561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59E14-667A-E397-6CAD-182CBE33F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1D1ADB-70F3-AE91-33EA-34B76CCC8678}"/>
              </a:ext>
            </a:extLst>
          </p:cNvPr>
          <p:cNvSpPr txBox="1"/>
          <p:nvPr/>
        </p:nvSpPr>
        <p:spPr>
          <a:xfrm>
            <a:off x="1133475" y="1586623"/>
            <a:ext cx="10163175" cy="3272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2000" b="1" dirty="0"/>
              <a:t>Сосед со страховкой получит </a:t>
            </a:r>
          </a:p>
          <a:p>
            <a:r>
              <a:rPr lang="ru-RU" sz="2000" dirty="0"/>
              <a:t>Потому что вред имуществу соседа сверху причинен в результате </a:t>
            </a:r>
            <a:r>
              <a:rPr lang="ru-RU" sz="2000" b="1" dirty="0"/>
              <a:t>тушения пожара</a:t>
            </a:r>
            <a:r>
              <a:rPr lang="ru-RU" sz="2000" dirty="0"/>
              <a:t>. Это классический страховой случай по риску «ущерб от воздействия воды при пожаротушении».</a:t>
            </a:r>
          </a:p>
          <a:p>
            <a:endParaRPr lang="ru-RU" sz="2000" dirty="0"/>
          </a:p>
          <a:p>
            <a:r>
              <a:rPr lang="ru-RU" sz="2000" dirty="0"/>
              <a:t>Страховая соседа выплатит ему деньги за ремонт.</a:t>
            </a:r>
          </a:p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ru-RU" sz="2000" dirty="0"/>
              <a:t>Страховая соседа, выплатив деньги, получит право требовать их с виновника пожара (собственника сгоревшей квартиры) в порядке суброгации (ст. 965). Но у виновника нет страховки и, возможно, нет денег.</a:t>
            </a:r>
            <a:endParaRPr lang="ru-RU" sz="200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346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C766F3-4207-0B30-6062-55F5188945E3}"/>
              </a:ext>
            </a:extLst>
          </p:cNvPr>
          <p:cNvSpPr txBox="1"/>
          <p:nvPr/>
        </p:nvSpPr>
        <p:spPr>
          <a:xfrm>
            <a:off x="785813" y="978329"/>
            <a:ext cx="1091088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«Разбитая машина во дворе»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Условия:</a:t>
            </a:r>
            <a:b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Студент Дима припарковал машину во дворе. Ночью неизвестный водитель задел его машину и скрылся. Ущерб — 40 000 ₽ (царапина на двери, разбито зеркало). Виновника не нашли.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 Димы есть: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ОСАГО (обязательное)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Каско с франшизой 15 000 ₽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Дима идет в страховую.</a:t>
            </a:r>
          </a:p>
        </p:txBody>
      </p:sp>
    </p:spTree>
    <p:extLst>
      <p:ext uri="{BB962C8B-B14F-4D97-AF65-F5344CB8AC3E}">
        <p14:creationId xmlns:p14="http://schemas.microsoft.com/office/powerpoint/2010/main" val="1354533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768BB06-2715-1602-E082-83DF7801B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326" y="1835150"/>
            <a:ext cx="6900863" cy="2222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Дима получит 25 000 ₽ 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ОСАГО — не платит вообще. ОСАГО страхует ответственность Димы перед другими, а не его машину (ст. 931).</a:t>
            </a: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Каско — платит. Ущерб 40 000 ₽. Франшиза 15 000 ₽. Выплата = 40 000 – 15 000 = 25 000 ₽.</a:t>
            </a:r>
          </a:p>
          <a:p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609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B1852D-AE0D-9109-9430-983473F6C045}"/>
              </a:ext>
            </a:extLst>
          </p:cNvPr>
          <p:cNvSpPr txBox="1"/>
          <p:nvPr/>
        </p:nvSpPr>
        <p:spPr>
          <a:xfrm>
            <a:off x="1123950" y="939637"/>
            <a:ext cx="10186988" cy="4490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«Сгоревшая кухня в общежитии»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Условия:</a:t>
            </a:r>
            <a:b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Студенты живут в общежитии. Вуз заключил договор коллективного страхования имущества студентов со страховой компанией. Каждый студент заплатил 500 ₽ при заселении. Страховая сумма на каждого — 50 000 ₽.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договоре написано:</a:t>
            </a:r>
            <a:b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«Застрахованным является имущество, находящееся в комнате, закрепленной за студентом. Места общего пользования (кухня, коридор) не страхуются».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На кухне общежития замыкает проводка, сгорает микроволновка, чайник и ноутбук, который студент Петя оставил на кухне заряжаться. Ущерб Пети — 60 000 ₽ (ноутбук + техника).</a:t>
            </a:r>
          </a:p>
        </p:txBody>
      </p:sp>
    </p:spTree>
    <p:extLst>
      <p:ext uri="{BB962C8B-B14F-4D97-AF65-F5344CB8AC3E}">
        <p14:creationId xmlns:p14="http://schemas.microsoft.com/office/powerpoint/2010/main" val="1043260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88E4D1-2151-002F-374F-2CE2C7C0AE3E}"/>
              </a:ext>
            </a:extLst>
          </p:cNvPr>
          <p:cNvSpPr txBox="1"/>
          <p:nvPr/>
        </p:nvSpPr>
        <p:spPr>
          <a:xfrm>
            <a:off x="1995488" y="2033349"/>
            <a:ext cx="810101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Договор четко ограничивает территорию страхования: </a:t>
            </a:r>
            <a:r>
              <a:rPr lang="ru-RU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только комната</a:t>
            </a: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Кухня — место общего пользования, не закрепленное за конкретным студентом. Страховщик скажет:</a:t>
            </a:r>
          </a:p>
          <a:p>
            <a:pPr algn="l">
              <a:spcBef>
                <a:spcPts val="1200"/>
              </a:spcBef>
              <a:buNone/>
            </a:pP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«Мы не можем проверить, чей именно ноутбук и при каких обстоятельствах он там оказался. Риск оставлять технику на кухне вы взяли на себя».</a:t>
            </a:r>
          </a:p>
        </p:txBody>
      </p:sp>
    </p:spTree>
    <p:extLst>
      <p:ext uri="{BB962C8B-B14F-4D97-AF65-F5344CB8AC3E}">
        <p14:creationId xmlns:p14="http://schemas.microsoft.com/office/powerpoint/2010/main" val="596009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F2A07F-4934-9E57-1700-119FB571B179}"/>
              </a:ext>
            </a:extLst>
          </p:cNvPr>
          <p:cNvSpPr txBox="1"/>
          <p:nvPr/>
        </p:nvSpPr>
        <p:spPr>
          <a:xfrm>
            <a:off x="1069181" y="1161586"/>
            <a:ext cx="10053637" cy="3541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«Сгоревший диван» 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Условия:</a:t>
            </a:r>
            <a:b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Студент снимает квартиру. В договоре аренды есть пункт: «Арендатор обязан за свой счет застраховать имущество собственника». Студент покупает страховку квартиры (за 5 000 ₽) на сайте страховой компании. В полисе в графе «Страхователь» указан студент, в графе «Выгодоприобретатель» — «собственник».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Через полгода на кухне замыкает проводка, и сгорает диван (стоимость 80 000 ₽), принадлежащий собственнику. Собственник идет в страховую за деньгами.</a:t>
            </a:r>
          </a:p>
        </p:txBody>
      </p:sp>
    </p:spTree>
    <p:extLst>
      <p:ext uri="{BB962C8B-B14F-4D97-AF65-F5344CB8AC3E}">
        <p14:creationId xmlns:p14="http://schemas.microsoft.com/office/powerpoint/2010/main" val="2495061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F053C5-4EA8-CE0A-46A7-6DA3305A144B}"/>
              </a:ext>
            </a:extLst>
          </p:cNvPr>
          <p:cNvSpPr txBox="1"/>
          <p:nvPr/>
        </p:nvSpPr>
        <p:spPr>
          <a:xfrm>
            <a:off x="1757363" y="1365826"/>
            <a:ext cx="840581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Диван сгорел в квартире, которую студент </a:t>
            </a:r>
            <a:r>
              <a:rPr lang="ru-RU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снимает</a:t>
            </a: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А страховка имущества (ст. 930 ГК) требует, чтобы у страхователя (студента) был </a:t>
            </a:r>
            <a:r>
              <a:rPr lang="ru-RU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интерес в сохранении</a:t>
            </a: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этого имущества.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Интерес в сохранении чужого дивана у студента? Нет. Диван ему не принадлежит, он за него не отвечает (если только не докажут его вину в пожаре). Страховая скажет:</a:t>
            </a:r>
          </a:p>
          <a:p>
            <a:pPr algn="l">
              <a:spcBef>
                <a:spcPts val="1200"/>
              </a:spcBef>
              <a:buNone/>
            </a:pP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«Вы застраховали квартиру, но у вас нет права собственности на диван. Вы не можете страховать чужое имущество, если оно не находится в вашем законном владении с ответственностью за него».</a:t>
            </a:r>
          </a:p>
        </p:txBody>
      </p:sp>
    </p:spTree>
    <p:extLst>
      <p:ext uri="{BB962C8B-B14F-4D97-AF65-F5344CB8AC3E}">
        <p14:creationId xmlns:p14="http://schemas.microsoft.com/office/powerpoint/2010/main" val="1396034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8C2CBB-CA85-8E5A-9118-7408B4462920}"/>
              </a:ext>
            </a:extLst>
          </p:cNvPr>
          <p:cNvSpPr txBox="1"/>
          <p:nvPr/>
        </p:nvSpPr>
        <p:spPr>
          <a:xfrm>
            <a:off x="371475" y="876729"/>
            <a:ext cx="11820525" cy="4696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«Смерть в автобусе»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Условия:</a:t>
            </a:r>
            <a:b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Студент Иван едет на маршрутке в университет. Водитель превышает скорость, врезается в столб. Иван получает тяжелые травмы и через 3 дня умирает в больнице, не приходя в сознание.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 Ивана была оформлена туристическая страховка (он собирался летом в Турцию) + кредитная карта, к которой банк «бесплатно» подключил страховку жизни и здоровья.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Родители Ивана (наследники) приходят в страховую компанию за выплатой.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договоре туристической страховки:</a:t>
            </a:r>
            <a:b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«Страховое покрытие действует только за пределами РФ и в период поездки».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Задолженность по кредитке Ивана — 0 ₽ (он всегда платил вовремя).</a:t>
            </a:r>
          </a:p>
        </p:txBody>
      </p:sp>
    </p:spTree>
    <p:extLst>
      <p:ext uri="{BB962C8B-B14F-4D97-AF65-F5344CB8AC3E}">
        <p14:creationId xmlns:p14="http://schemas.microsoft.com/office/powerpoint/2010/main" val="38639220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C2BD56-F79C-AFCB-06DD-F53CAE1806C4}"/>
              </a:ext>
            </a:extLst>
          </p:cNvPr>
          <p:cNvSpPr txBox="1"/>
          <p:nvPr/>
        </p:nvSpPr>
        <p:spPr>
          <a:xfrm>
            <a:off x="1347787" y="2170983"/>
            <a:ext cx="9382125" cy="18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ru-RU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Туристическая страховка</a:t>
            </a: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— отказ. Иван погиб в России, а не в Турции. Договор четко ограничивает территорию (ст. 942).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ru-RU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Кредитная страховка</a:t>
            </a: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— выплата будет. Но нюанс: выгодоприобретатель по риску смерти — банк. Долг = 0 ₽ тогда банку ничего не причитается. Значит, вся сумма (обычно 100–200 тыс. ₽) идет наследникам (родителям).</a:t>
            </a:r>
          </a:p>
        </p:txBody>
      </p:sp>
    </p:spTree>
    <p:extLst>
      <p:ext uri="{BB962C8B-B14F-4D97-AF65-F5344CB8AC3E}">
        <p14:creationId xmlns:p14="http://schemas.microsoft.com/office/powerpoint/2010/main" val="28320718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CEFC42-69A4-F204-CC92-B5EA53131635}"/>
              </a:ext>
            </a:extLst>
          </p:cNvPr>
          <p:cNvSpPr txBox="1"/>
          <p:nvPr/>
        </p:nvSpPr>
        <p:spPr>
          <a:xfrm>
            <a:off x="890588" y="453827"/>
            <a:ext cx="1034891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«Угон машины с ключами» </a:t>
            </a:r>
          </a:p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0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Условия:</a:t>
            </a:r>
            <a:b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Студентка Маша купила подержанный Hyundai Solaris за 600 000 ₽. Оформила </a:t>
            </a: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Каско</a:t>
            </a: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(страховка от угона и ущерба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доп. функций не брала</a:t>
            </a: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 Страховая премия — 30 000 ₽ в год.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договоре написано: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Страховая сумма: 600 000 ₽</a:t>
            </a: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Франшиза: </a:t>
            </a:r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10% от страховой суммы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Маша заехала в магазин на 5 минут, оставила ключи в зажигании (зима, холодно, прогревала машину). Выходит — машины нет.</a:t>
            </a:r>
          </a:p>
        </p:txBody>
      </p:sp>
    </p:spTree>
    <p:extLst>
      <p:ext uri="{BB962C8B-B14F-4D97-AF65-F5344CB8AC3E}">
        <p14:creationId xmlns:p14="http://schemas.microsoft.com/office/powerpoint/2010/main" val="23678931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175D15-6616-4E6D-A055-23B9D2BA9A77}"/>
              </a:ext>
            </a:extLst>
          </p:cNvPr>
          <p:cNvSpPr txBox="1"/>
          <p:nvPr/>
        </p:nvSpPr>
        <p:spPr>
          <a:xfrm>
            <a:off x="1695449" y="1323886"/>
            <a:ext cx="873442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Маша сама оставила ключи в машине. Страховые компании считают это грубой неосторожностью, граничащей с мошенничеством (инсценировка угона). В большинстве договоров Каско это прямое основание для отказа.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Если бы ключи были при ней: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Тогда считаем: страховая сумма 600 000 ₽. Франшиза 10% = 60 000 ₽.</a:t>
            </a:r>
            <a:b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Выплата = 600 000 – 60 000 = 540 000 ₽.</a:t>
            </a:r>
          </a:p>
        </p:txBody>
      </p:sp>
    </p:spTree>
    <p:extLst>
      <p:ext uri="{BB962C8B-B14F-4D97-AF65-F5344CB8AC3E}">
        <p14:creationId xmlns:p14="http://schemas.microsoft.com/office/powerpoint/2010/main" val="117990479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1890</Words>
  <Application>Microsoft Office PowerPoint</Application>
  <PresentationFormat>Широкоэкранный</PresentationFormat>
  <Paragraphs>146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PT Serif</vt:lpstr>
      <vt:lpstr>quote-cjk-patch</vt:lpstr>
      <vt:lpstr>Тема Office</vt:lpstr>
      <vt:lpstr>Страхование</vt:lpstr>
      <vt:lpstr>Презентация PowerPoint</vt:lpstr>
      <vt:lpstr>Страхование: базовые понятия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Алина Мартынова</dc:creator>
  <cp:lastModifiedBy>Алина Мартынова</cp:lastModifiedBy>
  <cp:revision>5</cp:revision>
  <dcterms:created xsi:type="dcterms:W3CDTF">2026-03-12T08:29:45Z</dcterms:created>
  <dcterms:modified xsi:type="dcterms:W3CDTF">2026-03-12T09:52:54Z</dcterms:modified>
</cp:coreProperties>
</file>